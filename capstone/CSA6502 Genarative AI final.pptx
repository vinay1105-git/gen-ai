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sldIdLst>
    <p:sldId id="256" r:id="rId2"/>
    <p:sldId id="260" r:id="rId3"/>
    <p:sldId id="257" r:id="rId4"/>
    <p:sldId id="259" r:id="rId5"/>
    <p:sldId id="261" r:id="rId6"/>
    <p:sldId id="262" r:id="rId7"/>
    <p:sldId id="263" r:id="rId8"/>
    <p:sldId id="269"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9D3865-769E-4C83-BF1D-F4F93EA33AB4}" v="13" dt="2026-08-02T17:15:47.4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1" d="100"/>
          <a:sy n="81" d="100"/>
        </p:scale>
        <p:origin x="70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ADB36A0-0D6D-4AFE-8914-E35627B260DA}"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E28739-554F-4D07-A665-36D8C6A6B36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2830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DB36A0-0D6D-4AFE-8914-E35627B260DA}"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E28739-554F-4D07-A665-36D8C6A6B364}" type="slidenum">
              <a:rPr lang="en-IN" smtClean="0"/>
              <a:t>‹#›</a:t>
            </a:fld>
            <a:endParaRPr lang="en-IN"/>
          </a:p>
        </p:txBody>
      </p:sp>
    </p:spTree>
    <p:extLst>
      <p:ext uri="{BB962C8B-B14F-4D97-AF65-F5344CB8AC3E}">
        <p14:creationId xmlns:p14="http://schemas.microsoft.com/office/powerpoint/2010/main" val="1950496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DB36A0-0D6D-4AFE-8914-E35627B260DA}"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E28739-554F-4D07-A665-36D8C6A6B36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6400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DB36A0-0D6D-4AFE-8914-E35627B260DA}" type="datetimeFigureOut">
              <a:rPr lang="en-IN" smtClean="0"/>
              <a:t>03-09-2026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E28739-554F-4D07-A665-36D8C6A6B364}" type="slidenum">
              <a:rPr lang="en-IN" smtClean="0"/>
              <a:t>‹#›</a:t>
            </a:fld>
            <a:endParaRPr lang="en-IN"/>
          </a:p>
        </p:txBody>
      </p:sp>
    </p:spTree>
    <p:extLst>
      <p:ext uri="{BB962C8B-B14F-4D97-AF65-F5344CB8AC3E}">
        <p14:creationId xmlns:p14="http://schemas.microsoft.com/office/powerpoint/2010/main" val="1984600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DB36A0-0D6D-4AFE-8914-E35627B260DA}" type="datetimeFigureOut">
              <a:rPr lang="en-IN" smtClean="0"/>
              <a:t>03-09-2026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7E28739-554F-4D07-A665-36D8C6A6B364}" type="slidenum">
              <a:rPr lang="en-IN" smtClean="0"/>
              <a:t>‹#›</a:t>
            </a:fld>
            <a:endParaRPr lang="en-IN"/>
          </a:p>
        </p:txBody>
      </p:sp>
    </p:spTree>
    <p:extLst>
      <p:ext uri="{BB962C8B-B14F-4D97-AF65-F5344CB8AC3E}">
        <p14:creationId xmlns:p14="http://schemas.microsoft.com/office/powerpoint/2010/main" val="3749316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DB36A0-0D6D-4AFE-8914-E35627B260DA}" type="datetimeFigureOut">
              <a:rPr lang="en-IN" smtClean="0"/>
              <a:t>03-09-2026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7E28739-554F-4D07-A665-36D8C6A6B364}" type="slidenum">
              <a:rPr lang="en-IN" smtClean="0"/>
              <a:t>‹#›</a:t>
            </a:fld>
            <a:endParaRPr lang="en-IN"/>
          </a:p>
        </p:txBody>
      </p:sp>
    </p:spTree>
    <p:extLst>
      <p:ext uri="{BB962C8B-B14F-4D97-AF65-F5344CB8AC3E}">
        <p14:creationId xmlns:p14="http://schemas.microsoft.com/office/powerpoint/2010/main" val="1072255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ADB36A0-0D6D-4AFE-8914-E35627B260DA}" type="datetimeFigureOut">
              <a:rPr lang="en-IN" smtClean="0"/>
              <a:t>03-09-2026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47E28739-554F-4D07-A665-36D8C6A6B364}" type="slidenum">
              <a:rPr lang="en-IN" smtClean="0"/>
              <a:t>‹#›</a:t>
            </a:fld>
            <a:endParaRPr lang="en-IN"/>
          </a:p>
        </p:txBody>
      </p:sp>
    </p:spTree>
    <p:extLst>
      <p:ext uri="{BB962C8B-B14F-4D97-AF65-F5344CB8AC3E}">
        <p14:creationId xmlns:p14="http://schemas.microsoft.com/office/powerpoint/2010/main" val="631072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ADB36A0-0D6D-4AFE-8914-E35627B260DA}" type="datetimeFigureOut">
              <a:rPr lang="en-IN" smtClean="0"/>
              <a:t>03-09-2026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7E28739-554F-4D07-A665-36D8C6A6B364}" type="slidenum">
              <a:rPr lang="en-IN" smtClean="0"/>
              <a:t>‹#›</a:t>
            </a:fld>
            <a:endParaRPr lang="en-IN"/>
          </a:p>
        </p:txBody>
      </p:sp>
    </p:spTree>
    <p:extLst>
      <p:ext uri="{BB962C8B-B14F-4D97-AF65-F5344CB8AC3E}">
        <p14:creationId xmlns:p14="http://schemas.microsoft.com/office/powerpoint/2010/main" val="4285766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DB36A0-0D6D-4AFE-8914-E35627B260DA}" type="datetimeFigureOut">
              <a:rPr lang="en-IN" smtClean="0"/>
              <a:t>03-09-2026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E28739-554F-4D07-A665-36D8C6A6B364}" type="slidenum">
              <a:rPr lang="en-IN" smtClean="0"/>
              <a:t>‹#›</a:t>
            </a:fld>
            <a:endParaRPr lang="en-IN"/>
          </a:p>
        </p:txBody>
      </p:sp>
    </p:spTree>
    <p:extLst>
      <p:ext uri="{BB962C8B-B14F-4D97-AF65-F5344CB8AC3E}">
        <p14:creationId xmlns:p14="http://schemas.microsoft.com/office/powerpoint/2010/main" val="1231812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DB36A0-0D6D-4AFE-8914-E35627B260DA}"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E28739-554F-4D07-A665-36D8C6A6B364}" type="slidenum">
              <a:rPr lang="en-IN" smtClean="0"/>
              <a:t>‹#›</a:t>
            </a:fld>
            <a:endParaRPr lang="en-IN"/>
          </a:p>
        </p:txBody>
      </p:sp>
    </p:spTree>
    <p:extLst>
      <p:ext uri="{BB962C8B-B14F-4D97-AF65-F5344CB8AC3E}">
        <p14:creationId xmlns:p14="http://schemas.microsoft.com/office/powerpoint/2010/main" val="735745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DB36A0-0D6D-4AFE-8914-E35627B260DA}" type="datetimeFigureOut">
              <a:rPr lang="en-IN" smtClean="0"/>
              <a:t>03-09-2026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E28739-554F-4D07-A665-36D8C6A6B364}" type="slidenum">
              <a:rPr lang="en-IN" smtClean="0"/>
              <a:t>‹#›</a:t>
            </a:fld>
            <a:endParaRPr lang="en-IN"/>
          </a:p>
        </p:txBody>
      </p:sp>
    </p:spTree>
    <p:extLst>
      <p:ext uri="{BB962C8B-B14F-4D97-AF65-F5344CB8AC3E}">
        <p14:creationId xmlns:p14="http://schemas.microsoft.com/office/powerpoint/2010/main" val="3473493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ADB36A0-0D6D-4AFE-8914-E35627B260DA}" type="datetimeFigureOut">
              <a:rPr lang="en-IN" smtClean="0"/>
              <a:t>03-09-2026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7E28739-554F-4D07-A665-36D8C6A6B364}"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5108373"/>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semgrep.dev/" TargetMode="External"/><Relationship Id="rId3" Type="http://schemas.openxmlformats.org/officeDocument/2006/relationships/hyperlink" Target="https://ai.meta.com/llama" TargetMode="External"/><Relationship Id="rId7" Type="http://schemas.openxmlformats.org/officeDocument/2006/relationships/hyperlink" Target="https://bandit.readthedocs.io/" TargetMode="External"/><Relationship Id="rId2" Type="http://schemas.openxmlformats.org/officeDocument/2006/relationships/hyperlink" Target="https://openai.com/" TargetMode="External"/><Relationship Id="rId1" Type="http://schemas.openxmlformats.org/officeDocument/2006/relationships/slideLayout" Target="../slideLayouts/slideLayout2.xml"/><Relationship Id="rId6" Type="http://schemas.openxmlformats.org/officeDocument/2006/relationships/hyperlink" Target="https://owasp.org/www-project-top-ten" TargetMode="External"/><Relationship Id="rId5" Type="http://schemas.openxmlformats.org/officeDocument/2006/relationships/hyperlink" Target="https://python.langchain.com/" TargetMode="External"/><Relationship Id="rId4" Type="http://schemas.openxmlformats.org/officeDocument/2006/relationships/hyperlink" Target="https://huggingface.co/docs/transformer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AEDE097-7B18-1280-8BB4-C99FC9F8A0E3}"/>
              </a:ext>
            </a:extLst>
          </p:cNvPr>
          <p:cNvSpPr>
            <a:spLocks noGrp="1"/>
          </p:cNvSpPr>
          <p:nvPr>
            <p:ph type="subTitle" idx="1"/>
          </p:nvPr>
        </p:nvSpPr>
        <p:spPr>
          <a:xfrm>
            <a:off x="491066" y="1908082"/>
            <a:ext cx="11218333" cy="704955"/>
          </a:xfrm>
        </p:spPr>
        <p:txBody>
          <a:bodyPr>
            <a:noAutofit/>
          </a:bodyPr>
          <a:lstStyle/>
          <a:p>
            <a:pPr algn="ctr"/>
            <a:r>
              <a:rPr lang="en-IN" sz="2800" b="1" dirty="0">
                <a:latin typeface="Times New Roman" panose="02020603050405020304" pitchFamily="18" charset="0"/>
                <a:cs typeface="Times New Roman" panose="02020603050405020304" pitchFamily="18" charset="0"/>
              </a:rPr>
              <a:t>An LLM-Based Multi-Agent Code Generation, Review, and Vulnerability Explanation System with Local LLM Deployment</a:t>
            </a:r>
            <a:endParaRPr lang="en-IN" sz="2800" b="1" dirty="0">
              <a:solidFill>
                <a:schemeClr val="tx1"/>
              </a:solidFill>
              <a:latin typeface="Times New Roman" panose="02020603050405020304" pitchFamily="18" charset="0"/>
              <a:cs typeface="Times New Roman" panose="02020603050405020304" pitchFamily="18" charset="0"/>
            </a:endParaRPr>
          </a:p>
        </p:txBody>
      </p:sp>
      <p:pic>
        <p:nvPicPr>
          <p:cNvPr id="5" name="image3.png" descr="C:\Users\ADMIN\AppData\Local\Microsoft\Windows\INetCache\Content.MSO\C29DB0A6.tmp">
            <a:extLst>
              <a:ext uri="{FF2B5EF4-FFF2-40B4-BE49-F238E27FC236}">
                <a16:creationId xmlns:a16="http://schemas.microsoft.com/office/drawing/2014/main" id="{B5A77E6F-98B9-68E7-D024-D78E365276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 y="706461"/>
            <a:ext cx="11861799" cy="772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93EB9BDB-67D9-F696-10FD-3E9122F95364}"/>
              </a:ext>
            </a:extLst>
          </p:cNvPr>
          <p:cNvSpPr txBox="1"/>
          <p:nvPr/>
        </p:nvSpPr>
        <p:spPr>
          <a:xfrm>
            <a:off x="8356602" y="3746900"/>
            <a:ext cx="2353731" cy="400110"/>
          </a:xfrm>
          <a:prstGeom prst="rect">
            <a:avLst/>
          </a:prstGeom>
          <a:noFill/>
        </p:spPr>
        <p:txBody>
          <a:bodyPr wrap="square" rtlCol="0">
            <a:spAutoFit/>
          </a:bodyPr>
          <a:lstStyle/>
          <a:p>
            <a:pPr marL="469900" algn="ctr">
              <a:lnSpc>
                <a:spcPct val="100000"/>
              </a:lnSpc>
              <a:spcBef>
                <a:spcPts val="720"/>
              </a:spcBef>
            </a:pPr>
            <a:r>
              <a:rPr lang="en-IN" sz="2000" b="1" dirty="0">
                <a:solidFill>
                  <a:schemeClr val="bg1"/>
                </a:solidFill>
                <a:latin typeface="Times New Roman" panose="02020603050405020304" pitchFamily="18" charset="0"/>
                <a:cs typeface="Times New Roman" panose="02020603050405020304" pitchFamily="18" charset="0"/>
              </a:rPr>
              <a:t>Presented</a:t>
            </a:r>
            <a:r>
              <a:rPr lang="en-IN" sz="2000" b="1" spc="-105" dirty="0">
                <a:solidFill>
                  <a:schemeClr val="bg1"/>
                </a:solidFill>
                <a:latin typeface="Times New Roman" panose="02020603050405020304" pitchFamily="18" charset="0"/>
                <a:cs typeface="Times New Roman" panose="02020603050405020304" pitchFamily="18" charset="0"/>
              </a:rPr>
              <a:t> </a:t>
            </a:r>
            <a:r>
              <a:rPr lang="en-IN" sz="2000" b="1" spc="-25" dirty="0">
                <a:solidFill>
                  <a:schemeClr val="bg1"/>
                </a:solidFill>
                <a:latin typeface="Times New Roman" panose="02020603050405020304" pitchFamily="18" charset="0"/>
                <a:cs typeface="Times New Roman" panose="02020603050405020304" pitchFamily="18" charset="0"/>
              </a:rPr>
              <a:t>by</a:t>
            </a:r>
          </a:p>
        </p:txBody>
      </p:sp>
      <p:sp>
        <p:nvSpPr>
          <p:cNvPr id="8" name="TextBox 7">
            <a:extLst>
              <a:ext uri="{FF2B5EF4-FFF2-40B4-BE49-F238E27FC236}">
                <a16:creationId xmlns:a16="http://schemas.microsoft.com/office/drawing/2014/main" id="{4B0FF3D9-1A24-5A10-1C3C-AA4FB1394445}"/>
              </a:ext>
            </a:extLst>
          </p:cNvPr>
          <p:cNvSpPr txBox="1"/>
          <p:nvPr/>
        </p:nvSpPr>
        <p:spPr>
          <a:xfrm>
            <a:off x="1236133" y="3746900"/>
            <a:ext cx="1727200" cy="400110"/>
          </a:xfrm>
          <a:prstGeom prst="rect">
            <a:avLst/>
          </a:prstGeom>
          <a:noFill/>
        </p:spPr>
        <p:txBody>
          <a:bodyPr wrap="square" rtlCol="0">
            <a:spAutoFit/>
          </a:bodyPr>
          <a:lstStyle/>
          <a:p>
            <a:r>
              <a:rPr lang="en-IN" sz="2000" b="1" dirty="0">
                <a:solidFill>
                  <a:schemeClr val="bg1"/>
                </a:solidFill>
                <a:latin typeface="Times New Roman" panose="02020603050405020304" pitchFamily="18" charset="0"/>
                <a:cs typeface="Times New Roman" panose="02020603050405020304" pitchFamily="18" charset="0"/>
              </a:rPr>
              <a:t>Supervisor</a:t>
            </a: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0A9FA38-8365-205D-C7F4-930FF032B0C2}"/>
              </a:ext>
            </a:extLst>
          </p:cNvPr>
          <p:cNvSpPr txBox="1"/>
          <p:nvPr/>
        </p:nvSpPr>
        <p:spPr>
          <a:xfrm>
            <a:off x="8050492" y="4634542"/>
            <a:ext cx="38669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 L Sai Pavan (192472129)</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G vinay </a:t>
            </a:r>
            <a:r>
              <a:rPr lang="en-IN" dirty="0" err="1">
                <a:latin typeface="Times New Roman" panose="02020603050405020304" pitchFamily="18" charset="0"/>
                <a:cs typeface="Times New Roman" panose="02020603050405020304" pitchFamily="18" charset="0"/>
              </a:rPr>
              <a:t>kumar</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reddy</a:t>
            </a:r>
            <a:r>
              <a:rPr lang="en-IN" dirty="0">
                <a:latin typeface="Times New Roman" panose="02020603050405020304" pitchFamily="18" charset="0"/>
                <a:cs typeface="Times New Roman" panose="02020603050405020304" pitchFamily="18" charset="0"/>
              </a:rPr>
              <a:t>(192472093)</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25EB13F-F4F2-50E3-BA36-3E843E0D573C}"/>
              </a:ext>
            </a:extLst>
          </p:cNvPr>
          <p:cNvSpPr txBox="1"/>
          <p:nvPr/>
        </p:nvSpPr>
        <p:spPr>
          <a:xfrm>
            <a:off x="1236133" y="4337297"/>
            <a:ext cx="2048934"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Dr Nithisha J</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Professor</a:t>
            </a:r>
          </a:p>
          <a:p>
            <a:r>
              <a:rPr lang="en-IN" dirty="0">
                <a:latin typeface="Times New Roman" panose="02020603050405020304" pitchFamily="18" charset="0"/>
                <a:cs typeface="Times New Roman" panose="02020603050405020304" pitchFamily="18" charset="0"/>
              </a:rPr>
              <a:t>SIMATS</a:t>
            </a:r>
          </a:p>
        </p:txBody>
      </p:sp>
    </p:spTree>
    <p:extLst>
      <p:ext uri="{BB962C8B-B14F-4D97-AF65-F5344CB8AC3E}">
        <p14:creationId xmlns:p14="http://schemas.microsoft.com/office/powerpoint/2010/main" val="996779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E0EF4-55C6-7CC7-5450-8AC0603D0236}"/>
              </a:ext>
            </a:extLst>
          </p:cNvPr>
          <p:cNvSpPr>
            <a:spLocks noGrp="1"/>
          </p:cNvSpPr>
          <p:nvPr>
            <p:ph type="title"/>
          </p:nvPr>
        </p:nvSpPr>
        <p:spPr/>
        <p:txBody>
          <a:bodyPr/>
          <a:lstStyle/>
          <a:p>
            <a:pPr algn="ctr"/>
            <a:r>
              <a:rPr lang="en-US" b="1" dirty="0"/>
              <a:t>A</a:t>
            </a:r>
            <a:r>
              <a:rPr lang="en-IN" b="1" dirty="0"/>
              <a:t>BSTRACT</a:t>
            </a:r>
            <a:endParaRPr lang="en-IN" dirty="0"/>
          </a:p>
        </p:txBody>
      </p:sp>
      <p:sp>
        <p:nvSpPr>
          <p:cNvPr id="3" name="Content Placeholder 2">
            <a:extLst>
              <a:ext uri="{FF2B5EF4-FFF2-40B4-BE49-F238E27FC236}">
                <a16:creationId xmlns:a16="http://schemas.microsoft.com/office/drawing/2014/main" id="{909DAFB4-FEE6-C2EA-8E57-D2314B4FFA61}"/>
              </a:ext>
            </a:extLst>
          </p:cNvPr>
          <p:cNvSpPr>
            <a:spLocks noGrp="1"/>
          </p:cNvSpPr>
          <p:nvPr>
            <p:ph idx="1"/>
          </p:nvPr>
        </p:nvSpPr>
        <p:spPr/>
        <p:txBody>
          <a:bodyPr>
            <a:normAutofit lnSpcReduction="10000"/>
          </a:bodyPr>
          <a:lstStyle/>
          <a:p>
            <a:pPr marL="0" indent="0" algn="just">
              <a:lnSpc>
                <a:spcPct val="150000"/>
              </a:lnSpc>
              <a:buNone/>
            </a:pPr>
            <a:r>
              <a:rPr lang="en-IN" dirty="0">
                <a:latin typeface="Times New Roman" panose="02020603050405020304" pitchFamily="18" charset="0"/>
                <a:cs typeface="Times New Roman" panose="02020603050405020304" pitchFamily="18" charset="0"/>
              </a:rPr>
              <a:t>Large Language Models (LLMs) have become an important part of modern software development by assisting developers in generating code from natural language prompts. However, AI-generated code may contain logical errors, poor coding practices, or security vulnerabilities. This project proposes an LLM-Based Multi-Agent Code Generation, Review, and Vulnerability Explanation System with Local LLM Deployment. The system uses multiple AI agents to perform code generation, automated code review, vulnerability detection, and explanation of security issues. Deploying the LLM locally ensures data privacy, reduces dependency on cloud services, and enables offline usage. The proposed system improves software quality, enhances security, and increases developer productivity.</a:t>
            </a:r>
          </a:p>
        </p:txBody>
      </p:sp>
    </p:spTree>
    <p:extLst>
      <p:ext uri="{BB962C8B-B14F-4D97-AF65-F5344CB8AC3E}">
        <p14:creationId xmlns:p14="http://schemas.microsoft.com/office/powerpoint/2010/main" val="1466078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25687-FB20-E66A-3E30-5EAA418EFDD1}"/>
              </a:ext>
            </a:extLst>
          </p:cNvPr>
          <p:cNvSpPr>
            <a:spLocks noGrp="1"/>
          </p:cNvSpPr>
          <p:nvPr>
            <p:ph type="title"/>
          </p:nvPr>
        </p:nvSpPr>
        <p:spPr>
          <a:xfrm>
            <a:off x="444499" y="923001"/>
            <a:ext cx="11303000" cy="854999"/>
          </a:xfrm>
        </p:spPr>
        <p:txBody>
          <a:bodyPr>
            <a:noAutofit/>
          </a:bodyPr>
          <a:lstStyle/>
          <a:p>
            <a:pPr algn="just"/>
            <a:r>
              <a:rPr lang="en-IN" b="1" dirty="0">
                <a:latin typeface="Times New Roman" panose="02020603050405020304" pitchFamily="18" charset="0"/>
                <a:cs typeface="Times New Roman" panose="02020603050405020304" pitchFamily="18" charset="0"/>
              </a:rPr>
              <a:t>INTRODUCTION</a:t>
            </a:r>
            <a:br>
              <a:rPr lang="en-IN" dirty="0">
                <a:solidFill>
                  <a:srgbClr val="FF0000"/>
                </a:solidFill>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5323DB3-6848-6C76-8131-FC96376B6E28}"/>
              </a:ext>
            </a:extLst>
          </p:cNvPr>
          <p:cNvSpPr>
            <a:spLocks noGrp="1"/>
          </p:cNvSpPr>
          <p:nvPr>
            <p:ph idx="1"/>
          </p:nvPr>
        </p:nvSpPr>
        <p:spPr>
          <a:xfrm>
            <a:off x="581192" y="2256696"/>
            <a:ext cx="11029615" cy="3678303"/>
          </a:xfrm>
        </p:spPr>
        <p:txBody>
          <a:bodyPr>
            <a:normAutofit fontScale="92500"/>
          </a:bodyPr>
          <a:lstStyle/>
          <a:p>
            <a:pPr lvl="0"/>
            <a:r>
              <a:rPr lang="en-IN" dirty="0">
                <a:latin typeface="Times New Roman" panose="02020603050405020304" pitchFamily="18" charset="0"/>
                <a:cs typeface="Times New Roman" panose="02020603050405020304" pitchFamily="18" charset="0"/>
              </a:rPr>
              <a:t>Large Language Models (LLMs) have transformed software development by automating code generation and programming assistance. </a:t>
            </a:r>
          </a:p>
          <a:p>
            <a:pPr lvl="0"/>
            <a:r>
              <a:rPr lang="en-IN" dirty="0">
                <a:latin typeface="Times New Roman" panose="02020603050405020304" pitchFamily="18" charset="0"/>
                <a:cs typeface="Times New Roman" panose="02020603050405020304" pitchFamily="18" charset="0"/>
              </a:rPr>
              <a:t>AI-generated code can improve development speed but may contain logical errors, poor coding practices, or security vulnerabilities. </a:t>
            </a:r>
          </a:p>
          <a:p>
            <a:pPr lvl="0"/>
            <a:r>
              <a:rPr lang="en-IN" dirty="0">
                <a:latin typeface="Times New Roman" panose="02020603050405020304" pitchFamily="18" charset="0"/>
                <a:cs typeface="Times New Roman" panose="02020603050405020304" pitchFamily="18" charset="0"/>
              </a:rPr>
              <a:t>Manual code review and vulnerability analysis are time-consuming and require significant developer effort. </a:t>
            </a:r>
          </a:p>
          <a:p>
            <a:pPr lvl="0"/>
            <a:r>
              <a:rPr lang="en-IN" dirty="0">
                <a:latin typeface="Times New Roman" panose="02020603050405020304" pitchFamily="18" charset="0"/>
                <a:cs typeface="Times New Roman" panose="02020603050405020304" pitchFamily="18" charset="0"/>
              </a:rPr>
              <a:t>The proposed system uses a </a:t>
            </a:r>
            <a:r>
              <a:rPr lang="en-IN" b="1" dirty="0">
                <a:latin typeface="Times New Roman" panose="02020603050405020304" pitchFamily="18" charset="0"/>
                <a:cs typeface="Times New Roman" panose="02020603050405020304" pitchFamily="18" charset="0"/>
              </a:rPr>
              <a:t>multi-agent architecture</a:t>
            </a:r>
            <a:r>
              <a:rPr lang="en-IN" dirty="0">
                <a:latin typeface="Times New Roman" panose="02020603050405020304" pitchFamily="18" charset="0"/>
                <a:cs typeface="Times New Roman" panose="02020603050405020304" pitchFamily="18" charset="0"/>
              </a:rPr>
              <a:t>, where different AI agents collaborate to generate, review, and secure code. </a:t>
            </a:r>
          </a:p>
          <a:p>
            <a:pPr lvl="0"/>
            <a:r>
              <a:rPr lang="en-IN" dirty="0">
                <a:latin typeface="Times New Roman" panose="02020603050405020304" pitchFamily="18" charset="0"/>
                <a:cs typeface="Times New Roman" panose="02020603050405020304" pitchFamily="18" charset="0"/>
              </a:rPr>
              <a:t>The system detects common security vulnerabilities and provides clear explanations with recommended fixes. </a:t>
            </a:r>
          </a:p>
          <a:p>
            <a:pPr lvl="0"/>
            <a:r>
              <a:rPr lang="en-IN" dirty="0">
                <a:latin typeface="Times New Roman" panose="02020603050405020304" pitchFamily="18" charset="0"/>
                <a:cs typeface="Times New Roman" panose="02020603050405020304" pitchFamily="18" charset="0"/>
              </a:rPr>
              <a:t>Local deployment of the LLM ensures </a:t>
            </a:r>
            <a:r>
              <a:rPr lang="en-IN" b="1" dirty="0">
                <a:latin typeface="Times New Roman" panose="02020603050405020304" pitchFamily="18" charset="0"/>
                <a:cs typeface="Times New Roman" panose="02020603050405020304" pitchFamily="18" charset="0"/>
              </a:rPr>
              <a:t>data privacy</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offline execution</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reduced dependence on cloud services</a:t>
            </a:r>
            <a:r>
              <a:rPr lang="en-IN" dirty="0">
                <a:latin typeface="Times New Roman" panose="02020603050405020304" pitchFamily="18" charset="0"/>
                <a:cs typeface="Times New Roman" panose="02020603050405020304" pitchFamily="18" charset="0"/>
              </a:rPr>
              <a:t>.</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3518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50C45-5F25-C64F-551A-2E8D535C8570}"/>
              </a:ext>
            </a:extLst>
          </p:cNvPr>
          <p:cNvSpPr>
            <a:spLocks noGrp="1"/>
          </p:cNvSpPr>
          <p:nvPr>
            <p:ph type="title"/>
          </p:nvPr>
        </p:nvSpPr>
        <p:spPr>
          <a:xfrm>
            <a:off x="581192" y="702156"/>
            <a:ext cx="11029616" cy="771044"/>
          </a:xfrm>
        </p:spPr>
        <p:txBody>
          <a:bodyPr/>
          <a:lstStyle/>
          <a:p>
            <a:pPr algn="ctr"/>
            <a:r>
              <a:rPr lang="en-US" b="1" spc="-10" dirty="0">
                <a:latin typeface="Times New Roman"/>
                <a:cs typeface="Times New Roman"/>
              </a:rPr>
              <a:t>O</a:t>
            </a:r>
            <a:r>
              <a:rPr lang="en-IN" b="1" spc="-10" dirty="0">
                <a:latin typeface="Times New Roman"/>
                <a:cs typeface="Times New Roman"/>
              </a:rPr>
              <a:t>BJECTIVES</a:t>
            </a:r>
            <a:endParaRPr lang="en-IN" dirty="0"/>
          </a:p>
        </p:txBody>
      </p:sp>
      <p:sp>
        <p:nvSpPr>
          <p:cNvPr id="3" name="Content Placeholder 2">
            <a:extLst>
              <a:ext uri="{FF2B5EF4-FFF2-40B4-BE49-F238E27FC236}">
                <a16:creationId xmlns:a16="http://schemas.microsoft.com/office/drawing/2014/main" id="{DDE1E51A-C1A5-FA9D-DCF8-F44CE4E82B24}"/>
              </a:ext>
            </a:extLst>
          </p:cNvPr>
          <p:cNvSpPr>
            <a:spLocks noGrp="1"/>
          </p:cNvSpPr>
          <p:nvPr>
            <p:ph idx="1"/>
          </p:nvPr>
        </p:nvSpPr>
        <p:spPr/>
        <p:txBody>
          <a:bodyPr>
            <a:normAutofit/>
          </a:bodyPr>
          <a:lstStyle/>
          <a:p>
            <a:pPr>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The main objectives of this project are:</a:t>
            </a:r>
          </a:p>
          <a:p>
            <a:pPr lvl="0">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To generate source code automatically from user requirements. </a:t>
            </a:r>
          </a:p>
          <a:p>
            <a:pPr lvl="0">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To review the generated code and identify syntax or logical errors. </a:t>
            </a:r>
          </a:p>
          <a:p>
            <a:pPr lvl="0">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To detect common software security vulnerabilities. </a:t>
            </a:r>
          </a:p>
          <a:p>
            <a:pPr lvl="0">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To explain detected vulnerabilities in a simple and understandable manner. </a:t>
            </a:r>
          </a:p>
          <a:p>
            <a:pPr lvl="0">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To recommend secure coding practices and possible fixes. </a:t>
            </a:r>
          </a:p>
          <a:p>
            <a:pPr lvl="0">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To deploy the LLM locally for enhanced privacy and offline accessibility. </a:t>
            </a:r>
          </a:p>
          <a:p>
            <a:pPr lvl="0">
              <a:buFont typeface="Courier New" panose="02070309020205020404" pitchFamily="49" charset="0"/>
              <a:buChar char="o"/>
            </a:pPr>
            <a:r>
              <a:rPr lang="en-IN" dirty="0">
                <a:latin typeface="Times New Roman" panose="02020603050405020304" pitchFamily="18" charset="0"/>
                <a:cs typeface="Times New Roman" panose="02020603050405020304" pitchFamily="18" charset="0"/>
              </a:rPr>
              <a:t>To improve software quality and developer productivity. </a:t>
            </a:r>
          </a:p>
          <a:p>
            <a:endParaRPr lang="en-IN" dirty="0"/>
          </a:p>
        </p:txBody>
      </p:sp>
    </p:spTree>
    <p:extLst>
      <p:ext uri="{BB962C8B-B14F-4D97-AF65-F5344CB8AC3E}">
        <p14:creationId xmlns:p14="http://schemas.microsoft.com/office/powerpoint/2010/main" val="3786544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32FFB09-C753-3AF2-C8B1-9022113DB2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4718" y="490195"/>
            <a:ext cx="10737129" cy="5378794"/>
          </a:xfrm>
        </p:spPr>
      </p:pic>
    </p:spTree>
    <p:extLst>
      <p:ext uri="{BB962C8B-B14F-4D97-AF65-F5344CB8AC3E}">
        <p14:creationId xmlns:p14="http://schemas.microsoft.com/office/powerpoint/2010/main" val="4026832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602D5-8C90-1511-8DE7-DB5592109983}"/>
              </a:ext>
            </a:extLst>
          </p:cNvPr>
          <p:cNvSpPr>
            <a:spLocks noGrp="1"/>
          </p:cNvSpPr>
          <p:nvPr>
            <p:ph type="title"/>
          </p:nvPr>
        </p:nvSpPr>
        <p:spPr/>
        <p:txBody>
          <a:bodyPr>
            <a:normAutofit/>
          </a:bodyPr>
          <a:lstStyle/>
          <a:p>
            <a:pPr algn="ctr"/>
            <a:r>
              <a:rPr lang="en-IN" sz="4000" b="1" dirty="0">
                <a:latin typeface="Times New Roman" panose="02020603050405020304" pitchFamily="18" charset="0"/>
                <a:cs typeface="Times New Roman" panose="02020603050405020304" pitchFamily="18" charset="0"/>
              </a:rPr>
              <a:t>Module 1:</a:t>
            </a:r>
            <a:r>
              <a:rPr lang="en-IN" sz="4000" dirty="0">
                <a:latin typeface="Times New Roman" panose="02020603050405020304" pitchFamily="18" charset="0"/>
                <a:cs typeface="Times New Roman" panose="02020603050405020304" pitchFamily="18" charset="0"/>
              </a:rPr>
              <a:t>Multi-Agent Code Generation and Review</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18699EA-F8D0-7412-5337-3BFAB589A40A}"/>
              </a:ext>
            </a:extLst>
          </p:cNvPr>
          <p:cNvSpPr>
            <a:spLocks noGrp="1"/>
          </p:cNvSpPr>
          <p:nvPr>
            <p:ph idx="1"/>
          </p:nvPr>
        </p:nvSpPr>
        <p:spPr/>
        <p:txBody>
          <a:bodyPr>
            <a:normAutofit fontScale="92500" lnSpcReduction="10000"/>
          </a:bodyPr>
          <a:lstStyle/>
          <a:p>
            <a:r>
              <a:rPr lang="en-IN" sz="2200" b="1" dirty="0">
                <a:latin typeface="Times New Roman" panose="02020603050405020304" pitchFamily="18" charset="0"/>
                <a:cs typeface="Times New Roman" panose="02020603050405020304" pitchFamily="18" charset="0"/>
              </a:rPr>
              <a:t>Objective</a:t>
            </a:r>
          </a:p>
          <a:p>
            <a:r>
              <a:rPr lang="en-IN" sz="2200" dirty="0">
                <a:latin typeface="Times New Roman" panose="02020603050405020304" pitchFamily="18" charset="0"/>
                <a:cs typeface="Times New Roman" panose="02020603050405020304" pitchFamily="18" charset="0"/>
              </a:rPr>
              <a:t>To automatically generate source code from user requirements and improve its quality through intelligent code review.</a:t>
            </a:r>
          </a:p>
          <a:p>
            <a:r>
              <a:rPr lang="en-IN" sz="2200" b="1" dirty="0">
                <a:latin typeface="Times New Roman" panose="02020603050405020304" pitchFamily="18" charset="0"/>
                <a:cs typeface="Times New Roman" panose="02020603050405020304" pitchFamily="18" charset="0"/>
              </a:rPr>
              <a:t>Key Points</a:t>
            </a:r>
          </a:p>
          <a:p>
            <a:pPr lvl="0">
              <a:buFont typeface="Courier New" panose="02070309020205020404" pitchFamily="49" charset="0"/>
              <a:buChar char="o"/>
            </a:pPr>
            <a:r>
              <a:rPr lang="en-IN" sz="2200" dirty="0">
                <a:latin typeface="Times New Roman" panose="02020603050405020304" pitchFamily="18" charset="0"/>
                <a:cs typeface="Times New Roman" panose="02020603050405020304" pitchFamily="18" charset="0"/>
              </a:rPr>
              <a:t>Accepts user prompts and converts them into executable source code. </a:t>
            </a:r>
          </a:p>
          <a:p>
            <a:pPr lvl="0">
              <a:buFont typeface="Courier New" panose="02070309020205020404" pitchFamily="49" charset="0"/>
              <a:buChar char="o"/>
            </a:pPr>
            <a:r>
              <a:rPr lang="en-IN" sz="2200" dirty="0">
                <a:latin typeface="Times New Roman" panose="02020603050405020304" pitchFamily="18" charset="0"/>
                <a:cs typeface="Times New Roman" panose="02020603050405020304" pitchFamily="18" charset="0"/>
              </a:rPr>
              <a:t>Generates code using a locally deployed Large Language Model (LLM). </a:t>
            </a:r>
          </a:p>
          <a:p>
            <a:pPr lvl="0">
              <a:buFont typeface="Courier New" panose="02070309020205020404" pitchFamily="49" charset="0"/>
              <a:buChar char="o"/>
            </a:pPr>
            <a:r>
              <a:rPr lang="en-IN" sz="2200" dirty="0">
                <a:latin typeface="Times New Roman" panose="02020603050405020304" pitchFamily="18" charset="0"/>
                <a:cs typeface="Times New Roman" panose="02020603050405020304" pitchFamily="18" charset="0"/>
              </a:rPr>
              <a:t>Reviews the generated code to identify syntax and logical errors. </a:t>
            </a:r>
          </a:p>
          <a:p>
            <a:pPr lvl="0">
              <a:buFont typeface="Courier New" panose="02070309020205020404" pitchFamily="49" charset="0"/>
              <a:buChar char="o"/>
            </a:pPr>
            <a:r>
              <a:rPr lang="en-IN" sz="2200" dirty="0">
                <a:latin typeface="Times New Roman" panose="02020603050405020304" pitchFamily="18" charset="0"/>
                <a:cs typeface="Times New Roman" panose="02020603050405020304" pitchFamily="18" charset="0"/>
              </a:rPr>
              <a:t>Suggests improvements for code readability, efficiency, and maintainability. </a:t>
            </a:r>
          </a:p>
          <a:p>
            <a:pPr lvl="0">
              <a:buFont typeface="Courier New" panose="02070309020205020404" pitchFamily="49" charset="0"/>
              <a:buChar char="o"/>
            </a:pPr>
            <a:r>
              <a:rPr lang="en-IN" sz="2200" dirty="0">
                <a:latin typeface="Times New Roman" panose="02020603050405020304" pitchFamily="18" charset="0"/>
                <a:cs typeface="Times New Roman" panose="02020603050405020304" pitchFamily="18" charset="0"/>
              </a:rPr>
              <a:t>Ensures adherence to coding standards and best programming practices. </a:t>
            </a:r>
          </a:p>
          <a:p>
            <a:pPr lvl="0">
              <a:buFont typeface="Courier New" panose="02070309020205020404" pitchFamily="49" charset="0"/>
              <a:buChar char="o"/>
            </a:pPr>
            <a:r>
              <a:rPr lang="en-IN" sz="2200" dirty="0">
                <a:latin typeface="Times New Roman" panose="02020603050405020304" pitchFamily="18" charset="0"/>
                <a:cs typeface="Times New Roman" panose="02020603050405020304" pitchFamily="18" charset="0"/>
              </a:rPr>
              <a:t>Produces optimized, clean, and high-quality source code for further security analysis. </a:t>
            </a:r>
          </a:p>
          <a:p>
            <a:pPr lvl="0">
              <a:lnSpc>
                <a:spcPct val="150000"/>
              </a:lnSpc>
              <a:buFont typeface="Courier New" panose="02070309020205020404" pitchFamily="49" charset="0"/>
              <a:buChar char="o"/>
            </a:pPr>
            <a:endParaRPr lang="en-IN"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3913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E2017-3A9C-F777-D25A-2F0E45694537}"/>
              </a:ext>
            </a:extLst>
          </p:cNvPr>
          <p:cNvSpPr>
            <a:spLocks noGrp="1"/>
          </p:cNvSpPr>
          <p:nvPr>
            <p:ph type="title"/>
          </p:nvPr>
        </p:nvSpPr>
        <p:spPr>
          <a:xfrm>
            <a:off x="871037" y="263527"/>
            <a:ext cx="10058400" cy="1450757"/>
          </a:xfrm>
        </p:spPr>
        <p:txBody>
          <a:bodyPr>
            <a:normAutofit/>
          </a:bodyPr>
          <a:lstStyle/>
          <a:p>
            <a:pPr algn="ctr"/>
            <a:r>
              <a:rPr lang="en-IN" sz="4000" b="1" dirty="0">
                <a:latin typeface="Times New Roman" panose="02020603050405020304" pitchFamily="18" charset="0"/>
                <a:cs typeface="Times New Roman" panose="02020603050405020304" pitchFamily="18" charset="0"/>
              </a:rPr>
              <a:t>Module 2:</a:t>
            </a:r>
            <a:r>
              <a:rPr lang="en-IN" sz="4000" dirty="0">
                <a:latin typeface="Times New Roman" panose="02020603050405020304" pitchFamily="18" charset="0"/>
                <a:cs typeface="Times New Roman" panose="02020603050405020304" pitchFamily="18" charset="0"/>
              </a:rPr>
              <a:t>Vulnerability Detection and Explanation</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E68F5BA-E356-F285-AE20-2B37ED13E87A}"/>
              </a:ext>
            </a:extLst>
          </p:cNvPr>
          <p:cNvSpPr>
            <a:spLocks noGrp="1"/>
          </p:cNvSpPr>
          <p:nvPr>
            <p:ph idx="1"/>
          </p:nvPr>
        </p:nvSpPr>
        <p:spPr>
          <a:xfrm>
            <a:off x="937024" y="1949429"/>
            <a:ext cx="10714505" cy="4023360"/>
          </a:xfrm>
        </p:spPr>
        <p:txBody>
          <a:bodyPr>
            <a:normAutofit fontScale="92500"/>
          </a:bodyPr>
          <a:lstStyle/>
          <a:p>
            <a:r>
              <a:rPr lang="en-IN" sz="2200" b="1" dirty="0">
                <a:latin typeface="Times New Roman" panose="02020603050405020304" pitchFamily="18" charset="0"/>
                <a:cs typeface="Times New Roman" panose="02020603050405020304" pitchFamily="18" charset="0"/>
              </a:rPr>
              <a:t>Objective</a:t>
            </a:r>
          </a:p>
          <a:p>
            <a:r>
              <a:rPr lang="en-IN" sz="2200" dirty="0">
                <a:latin typeface="Times New Roman" panose="02020603050405020304" pitchFamily="18" charset="0"/>
                <a:cs typeface="Times New Roman" panose="02020603050405020304" pitchFamily="18" charset="0"/>
              </a:rPr>
              <a:t>To detect security vulnerabilities in the reviewed code and provide clear explanations with recommended solutions.</a:t>
            </a:r>
          </a:p>
          <a:p>
            <a:pPr marL="0" indent="0">
              <a:buNone/>
            </a:pPr>
            <a:r>
              <a:rPr lang="en-IN" sz="2200" b="1" dirty="0">
                <a:latin typeface="Times New Roman" panose="02020603050405020304" pitchFamily="18" charset="0"/>
                <a:cs typeface="Times New Roman" panose="02020603050405020304" pitchFamily="18" charset="0"/>
              </a:rPr>
              <a:t>Key Points</a:t>
            </a:r>
          </a:p>
          <a:p>
            <a:pPr marL="0" indent="0">
              <a:buNone/>
            </a:pPr>
            <a:r>
              <a:rPr lang="en-IN" b="1" dirty="0">
                <a:latin typeface="Times New Roman" panose="02020603050405020304" pitchFamily="18" charset="0"/>
                <a:cs typeface="Times New Roman" panose="02020603050405020304" pitchFamily="18" charset="0"/>
              </a:rPr>
              <a:t>1.Offline Security Scanning:</a:t>
            </a:r>
            <a:r>
              <a:rPr lang="en-IN" dirty="0">
                <a:latin typeface="Times New Roman" panose="02020603050405020304" pitchFamily="18" charset="0"/>
                <a:cs typeface="Times New Roman" panose="02020603050405020304" pitchFamily="18" charset="0"/>
              </a:rPr>
              <a:t> Python AST + </a:t>
            </a:r>
            <a:r>
              <a:rPr lang="en-IN" dirty="0" err="1">
                <a:latin typeface="Times New Roman" panose="02020603050405020304" pitchFamily="18" charset="0"/>
                <a:cs typeface="Times New Roman" panose="02020603050405020304" pitchFamily="18" charset="0"/>
              </a:rPr>
              <a:t>Ollama</a:t>
            </a:r>
            <a:r>
              <a:rPr lang="en-IN" dirty="0">
                <a:latin typeface="Times New Roman" panose="02020603050405020304" pitchFamily="18" charset="0"/>
                <a:cs typeface="Times New Roman" panose="02020603050405020304" pitchFamily="18" charset="0"/>
              </a:rPr>
              <a:t> detect vulnerabilities locally without cloud data leakage.</a:t>
            </a:r>
          </a:p>
          <a:p>
            <a:pPr marL="0" indent="0">
              <a:buNone/>
            </a:pPr>
            <a:r>
              <a:rPr lang="en-IN" b="1" dirty="0">
                <a:latin typeface="Times New Roman" panose="02020603050405020304" pitchFamily="18" charset="0"/>
                <a:cs typeface="Times New Roman" panose="02020603050405020304" pitchFamily="18" charset="0"/>
              </a:rPr>
              <a:t>2. CWE &amp; OWASP Mapping:</a:t>
            </a:r>
            <a:r>
              <a:rPr lang="en-IN" dirty="0">
                <a:latin typeface="Times New Roman" panose="02020603050405020304" pitchFamily="18" charset="0"/>
                <a:cs typeface="Times New Roman" panose="02020603050405020304" pitchFamily="18" charset="0"/>
              </a:rPr>
              <a:t> Detects SQL Injection, XSS, Command Injection, and Insecure Deserialization.</a:t>
            </a:r>
          </a:p>
          <a:p>
            <a:pPr marL="0" indent="0">
              <a:buNone/>
            </a:pPr>
            <a:r>
              <a:rPr lang="en-IN" b="1" dirty="0">
                <a:latin typeface="Times New Roman" panose="02020603050405020304" pitchFamily="18" charset="0"/>
                <a:cs typeface="Times New Roman" panose="02020603050405020304" pitchFamily="18" charset="0"/>
              </a:rPr>
              <a:t>3. CVSS 3.1 Scoring:</a:t>
            </a:r>
            <a:r>
              <a:rPr lang="en-IN" dirty="0">
                <a:latin typeface="Times New Roman" panose="02020603050405020304" pitchFamily="18" charset="0"/>
                <a:cs typeface="Times New Roman" panose="02020603050405020304" pitchFamily="18" charset="0"/>
              </a:rPr>
              <a:t> Classifies vulnerabilities as Critical, High, Medium, or Low.</a:t>
            </a:r>
          </a:p>
          <a:p>
            <a:pPr marL="0" indent="0">
              <a:buNone/>
            </a:pPr>
            <a:r>
              <a:rPr lang="en-IN" b="1" dirty="0">
                <a:latin typeface="Times New Roman" panose="02020603050405020304" pitchFamily="18" charset="0"/>
                <a:cs typeface="Times New Roman" panose="02020603050405020304" pitchFamily="18" charset="0"/>
              </a:rPr>
              <a:t>4. Threat Explanation:</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ExplanationAgent</a:t>
            </a:r>
            <a:r>
              <a:rPr lang="en-IN" dirty="0">
                <a:latin typeface="Times New Roman" panose="02020603050405020304" pitchFamily="18" charset="0"/>
                <a:cs typeface="Times New Roman" panose="02020603050405020304" pitchFamily="18" charset="0"/>
              </a:rPr>
              <a:t> identifies root causes, execution flow, and security impact.</a:t>
            </a:r>
          </a:p>
          <a:p>
            <a:pPr marL="0" indent="0">
              <a:buNone/>
            </a:pPr>
            <a:r>
              <a:rPr lang="en-IN" b="1" dirty="0">
                <a:latin typeface="Times New Roman" panose="02020603050405020304" pitchFamily="18" charset="0"/>
                <a:cs typeface="Times New Roman" panose="02020603050405020304" pitchFamily="18" charset="0"/>
              </a:rPr>
              <a:t>5. Auto-Fix &amp; Reporting:</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RefactorAgent</a:t>
            </a:r>
            <a:r>
              <a:rPr lang="en-IN" dirty="0">
                <a:latin typeface="Times New Roman" panose="02020603050405020304" pitchFamily="18" charset="0"/>
                <a:cs typeface="Times New Roman" panose="02020603050405020304" pitchFamily="18" charset="0"/>
              </a:rPr>
              <a:t> generates secure patches and PDF security audit reports.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3827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C2D40-E7F4-3EEF-AFB8-DAC9A881A7CC}"/>
              </a:ext>
            </a:extLst>
          </p:cNvPr>
          <p:cNvSpPr>
            <a:spLocks noGrp="1"/>
          </p:cNvSpPr>
          <p:nvPr>
            <p:ph type="title"/>
          </p:nvPr>
        </p:nvSpPr>
        <p:spPr>
          <a:xfrm>
            <a:off x="1304670" y="339949"/>
            <a:ext cx="9272205" cy="728692"/>
          </a:xfrm>
        </p:spPr>
        <p:txBody>
          <a:bodyPr/>
          <a:lstStyle/>
          <a:p>
            <a:r>
              <a:rPr lang="en-IN" dirty="0">
                <a:latin typeface="Times New Roman" panose="02020603050405020304" pitchFamily="18" charset="0"/>
                <a:cs typeface="Times New Roman" panose="02020603050405020304" pitchFamily="18" charset="0"/>
              </a:rPr>
              <a:t>Literature Review</a:t>
            </a:r>
          </a:p>
        </p:txBody>
      </p:sp>
      <p:graphicFrame>
        <p:nvGraphicFramePr>
          <p:cNvPr id="4" name="Content Placeholder 3">
            <a:extLst>
              <a:ext uri="{FF2B5EF4-FFF2-40B4-BE49-F238E27FC236}">
                <a16:creationId xmlns:a16="http://schemas.microsoft.com/office/drawing/2014/main" id="{D34632CC-52F9-E950-8D96-14972DA385D4}"/>
              </a:ext>
            </a:extLst>
          </p:cNvPr>
          <p:cNvGraphicFramePr>
            <a:graphicFrameLocks noGrp="1"/>
          </p:cNvGraphicFramePr>
          <p:nvPr>
            <p:ph idx="1"/>
            <p:extLst>
              <p:ext uri="{D42A27DB-BD31-4B8C-83A1-F6EECF244321}">
                <p14:modId xmlns:p14="http://schemas.microsoft.com/office/powerpoint/2010/main" val="2145412282"/>
              </p:ext>
            </p:extLst>
          </p:nvPr>
        </p:nvGraphicFramePr>
        <p:xfrm>
          <a:off x="1115819" y="1463984"/>
          <a:ext cx="9960361" cy="4829788"/>
        </p:xfrm>
        <a:graphic>
          <a:graphicData uri="http://schemas.openxmlformats.org/drawingml/2006/table">
            <a:tbl>
              <a:tblPr firstRow="1" firstCol="1" bandRow="1">
                <a:tableStyleId>{5940675A-B579-460E-94D1-54222C63F5DA}</a:tableStyleId>
              </a:tblPr>
              <a:tblGrid>
                <a:gridCol w="680362">
                  <a:extLst>
                    <a:ext uri="{9D8B030D-6E8A-4147-A177-3AD203B41FA5}">
                      <a16:colId xmlns:a16="http://schemas.microsoft.com/office/drawing/2014/main" val="2878915479"/>
                    </a:ext>
                  </a:extLst>
                </a:gridCol>
                <a:gridCol w="1371391">
                  <a:extLst>
                    <a:ext uri="{9D8B030D-6E8A-4147-A177-3AD203B41FA5}">
                      <a16:colId xmlns:a16="http://schemas.microsoft.com/office/drawing/2014/main" val="2642863267"/>
                    </a:ext>
                  </a:extLst>
                </a:gridCol>
                <a:gridCol w="2578215">
                  <a:extLst>
                    <a:ext uri="{9D8B030D-6E8A-4147-A177-3AD203B41FA5}">
                      <a16:colId xmlns:a16="http://schemas.microsoft.com/office/drawing/2014/main" val="3384560667"/>
                    </a:ext>
                  </a:extLst>
                </a:gridCol>
                <a:gridCol w="2358793">
                  <a:extLst>
                    <a:ext uri="{9D8B030D-6E8A-4147-A177-3AD203B41FA5}">
                      <a16:colId xmlns:a16="http://schemas.microsoft.com/office/drawing/2014/main" val="3202395941"/>
                    </a:ext>
                  </a:extLst>
                </a:gridCol>
                <a:gridCol w="2971600">
                  <a:extLst>
                    <a:ext uri="{9D8B030D-6E8A-4147-A177-3AD203B41FA5}">
                      <a16:colId xmlns:a16="http://schemas.microsoft.com/office/drawing/2014/main" val="2630171422"/>
                    </a:ext>
                  </a:extLst>
                </a:gridCol>
              </a:tblGrid>
              <a:tr h="270549">
                <a:tc>
                  <a:txBody>
                    <a:bodyPr/>
                    <a:lstStyle/>
                    <a:p>
                      <a:pPr algn="ctr">
                        <a:lnSpc>
                          <a:spcPct val="115000"/>
                        </a:lnSpc>
                        <a:spcAft>
                          <a:spcPts val="1000"/>
                        </a:spcAft>
                        <a:buNone/>
                      </a:pPr>
                      <a:r>
                        <a:rPr lang="en-US" sz="1200">
                          <a:effectLst/>
                        </a:rPr>
                        <a:t>Year</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en-US" sz="1200">
                          <a:effectLst/>
                        </a:rPr>
                        <a:t>Authors</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en-US" sz="1200">
                          <a:effectLst/>
                        </a:rPr>
                        <a:t>Research Title</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en-US" sz="1200">
                          <a:effectLst/>
                        </a:rPr>
                        <a:t>Methods / Techniques</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gn="ctr">
                        <a:lnSpc>
                          <a:spcPct val="115000"/>
                        </a:lnSpc>
                        <a:spcAft>
                          <a:spcPts val="1000"/>
                        </a:spcAft>
                        <a:buNone/>
                      </a:pPr>
                      <a:r>
                        <a:rPr lang="en-US" sz="1200">
                          <a:effectLst/>
                        </a:rPr>
                        <a:t>Key Contribution</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09933026"/>
                  </a:ext>
                </a:extLst>
              </a:tr>
              <a:tr h="920632">
                <a:tc>
                  <a:txBody>
                    <a:bodyPr/>
                    <a:lstStyle/>
                    <a:p>
                      <a:pPr algn="ctr">
                        <a:lnSpc>
                          <a:spcPct val="115000"/>
                        </a:lnSpc>
                        <a:spcAft>
                          <a:spcPts val="1000"/>
                        </a:spcAft>
                        <a:buNone/>
                      </a:pPr>
                      <a:r>
                        <a:rPr lang="en-US" sz="1200">
                          <a:effectLst/>
                        </a:rPr>
                        <a:t>2024</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dirty="0">
                          <a:effectLst/>
                        </a:rPr>
                        <a:t>C. E. Jimenez et al.</a:t>
                      </a:r>
                      <a:endParaRPr lang="en-IN" sz="12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dirty="0">
                          <a:effectLst/>
                        </a:rPr>
                        <a:t>SWE-bench: Can Language Models Resolve Real-World GitHub Issues?</a:t>
                      </a:r>
                      <a:endParaRPr lang="en-IN" sz="12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a:effectLst/>
                        </a:rPr>
                        <a:t>Repository-level benchmark, issue resolution, LLM-based software engineering evaluation</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dirty="0">
                          <a:effectLst/>
                        </a:rPr>
                        <a:t>Introduced a benchmark containing real-world GitHub issues to evaluate whether language models can understand repositories, modify code, and resolve practical software-engineering problems.</a:t>
                      </a:r>
                      <a:endParaRPr lang="en-IN" sz="12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765018382"/>
                  </a:ext>
                </a:extLst>
              </a:tr>
              <a:tr h="686779">
                <a:tc>
                  <a:txBody>
                    <a:bodyPr/>
                    <a:lstStyle/>
                    <a:p>
                      <a:pPr algn="ctr">
                        <a:lnSpc>
                          <a:spcPct val="115000"/>
                        </a:lnSpc>
                        <a:spcAft>
                          <a:spcPts val="1000"/>
                        </a:spcAft>
                        <a:buNone/>
                      </a:pPr>
                      <a:r>
                        <a:rPr lang="en-US" sz="1200">
                          <a:effectLst/>
                        </a:rPr>
                        <a:t>2024</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dirty="0">
                          <a:effectLst/>
                        </a:rPr>
                        <a:t>C. E. Jimenez et al.</a:t>
                      </a:r>
                      <a:endParaRPr lang="en-IN" sz="12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dirty="0">
                          <a:effectLst/>
                        </a:rPr>
                        <a:t>SWE-agent: Agent-Computer Interfaces Enable Automated Software Engineering</a:t>
                      </a:r>
                      <a:endParaRPr lang="en-IN" sz="12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dirty="0">
                          <a:effectLst/>
                        </a:rPr>
                        <a:t>LLM agent, agent-computer interface, repository navigation, tool use, iterative debugging</a:t>
                      </a:r>
                      <a:endParaRPr lang="en-IN" sz="12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a:effectLst/>
                        </a:rPr>
                        <a:t>Presented an LLM-based software-engineering agent that interacts with repositories and development tools to investigate issues and implement fixes.</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966944262"/>
                  </a:ext>
                </a:extLst>
              </a:tr>
              <a:tr h="920632">
                <a:tc>
                  <a:txBody>
                    <a:bodyPr/>
                    <a:lstStyle/>
                    <a:p>
                      <a:pPr algn="ctr">
                        <a:lnSpc>
                          <a:spcPct val="115000"/>
                        </a:lnSpc>
                        <a:spcAft>
                          <a:spcPts val="1000"/>
                        </a:spcAft>
                        <a:buNone/>
                      </a:pPr>
                      <a:r>
                        <a:rPr lang="en-US" sz="1200">
                          <a:effectLst/>
                        </a:rPr>
                        <a:t>2024</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dirty="0">
                          <a:effectLst/>
                        </a:rPr>
                        <a:t>S. Zhang et al.</a:t>
                      </a:r>
                      <a:endParaRPr lang="en-IN" sz="12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a:effectLst/>
                        </a:rPr>
                        <a:t>AutoCodeRover: Autonomous Program Improvement</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a:effectLst/>
                        </a:rPr>
                        <a:t>LLM agent, repository search, code navigation, program repair, iterative reasoning</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a:effectLst/>
                        </a:rPr>
                        <a:t>Proposed an autonomous approach for resolving software issues by combining repository exploration, code search, reasoning, and automated program modification.</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49966482"/>
                  </a:ext>
                </a:extLst>
              </a:tr>
              <a:tr h="686779">
                <a:tc>
                  <a:txBody>
                    <a:bodyPr/>
                    <a:lstStyle/>
                    <a:p>
                      <a:pPr algn="ctr">
                        <a:lnSpc>
                          <a:spcPct val="115000"/>
                        </a:lnSpc>
                        <a:spcAft>
                          <a:spcPts val="1000"/>
                        </a:spcAft>
                        <a:buNone/>
                      </a:pPr>
                      <a:r>
                        <a:rPr lang="en-US" sz="1200">
                          <a:effectLst/>
                        </a:rPr>
                        <a:t>2024</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a:effectLst/>
                        </a:rPr>
                        <a:t>X. Chen et al.</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a:effectLst/>
                        </a:rPr>
                        <a:t>ChatDev: Communicative Agents for Software Development</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a:effectLst/>
                        </a:rPr>
                        <a:t>Role-based multi-agent collaboration, conversational communication, task decomposition</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a:effectLst/>
                        </a:rPr>
                        <a:t>Demonstrated how specialized LLM agents such as programmers, reviewers, and testers can collaborate to automate different stages of software development.</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574063570"/>
                  </a:ext>
                </a:extLst>
              </a:tr>
              <a:tr h="686779">
                <a:tc>
                  <a:txBody>
                    <a:bodyPr/>
                    <a:lstStyle/>
                    <a:p>
                      <a:pPr algn="ctr">
                        <a:lnSpc>
                          <a:spcPct val="115000"/>
                        </a:lnSpc>
                        <a:spcAft>
                          <a:spcPts val="1000"/>
                        </a:spcAft>
                        <a:buNone/>
                      </a:pPr>
                      <a:r>
                        <a:rPr lang="en-US" sz="1200">
                          <a:effectLst/>
                        </a:rPr>
                        <a:t>2024</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a:effectLst/>
                        </a:rPr>
                        <a:t>J. Yang et al.</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a:effectLst/>
                        </a:rPr>
                        <a:t>RepoCoder: Repository-Level Code Completion Through Iterative Retrieval and Generation</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a:effectLst/>
                        </a:rPr>
                        <a:t>Repository retrieval, iterative retrieval-generation, contextual code completion</a:t>
                      </a:r>
                      <a:endParaRPr lang="en-IN" sz="12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tc>
                  <a:txBody>
                    <a:bodyPr/>
                    <a:lstStyle/>
                    <a:p>
                      <a:pPr>
                        <a:lnSpc>
                          <a:spcPct val="115000"/>
                        </a:lnSpc>
                        <a:spcAft>
                          <a:spcPts val="1000"/>
                        </a:spcAft>
                        <a:buNone/>
                      </a:pPr>
                      <a:r>
                        <a:rPr lang="en-US" sz="1200" dirty="0">
                          <a:effectLst/>
                        </a:rPr>
                        <a:t>Showed that retrieving relevant repository context and iteratively generating code can improve code completion for large software repositories.</a:t>
                      </a:r>
                      <a:endParaRPr lang="en-IN" sz="12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216903441"/>
                  </a:ext>
                </a:extLst>
              </a:tr>
            </a:tbl>
          </a:graphicData>
        </a:graphic>
      </p:graphicFrame>
    </p:spTree>
    <p:extLst>
      <p:ext uri="{BB962C8B-B14F-4D97-AF65-F5344CB8AC3E}">
        <p14:creationId xmlns:p14="http://schemas.microsoft.com/office/powerpoint/2010/main" val="2540809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A5DFC-8915-5BC6-8AEC-272FF510C4CF}"/>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TOOLS AND TECHNOLOGIES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4F09E57-2D31-CD2D-C5A1-A18F719A58E8}"/>
              </a:ext>
            </a:extLst>
          </p:cNvPr>
          <p:cNvSpPr>
            <a:spLocks noGrp="1"/>
          </p:cNvSpPr>
          <p:nvPr>
            <p:ph idx="1"/>
          </p:nvPr>
        </p:nvSpPr>
        <p:spPr/>
        <p:txBody>
          <a:bodyPr>
            <a:normAutofit/>
          </a:bodyPr>
          <a:lstStyle/>
          <a:p>
            <a:r>
              <a:rPr lang="en-IN" b="1" dirty="0">
                <a:latin typeface="Times New Roman" panose="02020603050405020304" pitchFamily="18" charset="0"/>
                <a:cs typeface="Times New Roman" panose="02020603050405020304" pitchFamily="18" charset="0"/>
              </a:rPr>
              <a:t>Programming:</a:t>
            </a:r>
            <a:r>
              <a:rPr lang="en-IN" dirty="0">
                <a:latin typeface="Times New Roman" panose="02020603050405020304" pitchFamily="18" charset="0"/>
                <a:cs typeface="Times New Roman" panose="02020603050405020304" pitchFamily="18" charset="0"/>
              </a:rPr>
              <a:t> Python 3.10+ for code generation, automation, security analysis, and LLM integration.</a:t>
            </a:r>
          </a:p>
          <a:p>
            <a:r>
              <a:rPr lang="en-IN" b="1" dirty="0">
                <a:latin typeface="Times New Roman" panose="02020603050405020304" pitchFamily="18" charset="0"/>
                <a:cs typeface="Times New Roman" panose="02020603050405020304" pitchFamily="18" charset="0"/>
              </a:rPr>
              <a:t>Development:</a:t>
            </a:r>
            <a:r>
              <a:rPr lang="en-IN" dirty="0">
                <a:latin typeface="Times New Roman" panose="02020603050405020304" pitchFamily="18" charset="0"/>
                <a:cs typeface="Times New Roman" panose="02020603050405020304" pitchFamily="18" charset="0"/>
              </a:rPr>
              <a:t> VS Code / PyCharm for coding, debugging, testing, and project development.</a:t>
            </a:r>
          </a:p>
          <a:p>
            <a:r>
              <a:rPr lang="en-IN" b="1" dirty="0">
                <a:latin typeface="Times New Roman" panose="02020603050405020304" pitchFamily="18" charset="0"/>
                <a:cs typeface="Times New Roman" panose="02020603050405020304" pitchFamily="18" charset="0"/>
              </a:rPr>
              <a:t>Database &amp; Data Handling:</a:t>
            </a:r>
            <a:r>
              <a:rPr lang="en-IN" dirty="0">
                <a:latin typeface="Times New Roman" panose="02020603050405020304" pitchFamily="18" charset="0"/>
                <a:cs typeface="Times New Roman" panose="02020603050405020304" pitchFamily="18" charset="0"/>
              </a:rPr>
              <a:t> SQLite, </a:t>
            </a:r>
            <a:r>
              <a:rPr lang="en-IN" dirty="0" err="1">
                <a:latin typeface="Times New Roman" panose="02020603050405020304" pitchFamily="18" charset="0"/>
                <a:cs typeface="Times New Roman" panose="02020603050405020304" pitchFamily="18" charset="0"/>
              </a:rPr>
              <a:t>SQLAlchemy</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Pydantic</a:t>
            </a:r>
            <a:r>
              <a:rPr lang="en-IN" dirty="0">
                <a:latin typeface="Times New Roman" panose="02020603050405020304" pitchFamily="18" charset="0"/>
                <a:cs typeface="Times New Roman" panose="02020603050405020304" pitchFamily="18" charset="0"/>
              </a:rPr>
              <a:t>, Pandas, and JSON for data storage and processing.</a:t>
            </a:r>
          </a:p>
          <a:p>
            <a:r>
              <a:rPr lang="en-IN" b="1" dirty="0">
                <a:latin typeface="Times New Roman" panose="02020603050405020304" pitchFamily="18" charset="0"/>
                <a:cs typeface="Times New Roman" panose="02020603050405020304" pitchFamily="18" charset="0"/>
              </a:rPr>
              <a:t>AI Technologies: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Ollama</a:t>
            </a:r>
            <a:r>
              <a:rPr lang="en-IN" dirty="0">
                <a:latin typeface="Times New Roman" panose="02020603050405020304" pitchFamily="18" charset="0"/>
                <a:cs typeface="Times New Roman" panose="02020603050405020304" pitchFamily="18" charset="0"/>
              </a:rPr>
              <a:t>, Llama 3.2, Qwen 2.5, Prompt Engineering, and Multi-Agent Architecture for code generation, review, and explanation.</a:t>
            </a:r>
          </a:p>
          <a:p>
            <a:r>
              <a:rPr lang="en-IN" b="1" dirty="0">
                <a:latin typeface="Times New Roman" panose="02020603050405020304" pitchFamily="18" charset="0"/>
                <a:cs typeface="Times New Roman" panose="02020603050405020304" pitchFamily="18" charset="0"/>
              </a:rPr>
              <a:t>Web Development: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Streamlit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and </a:t>
            </a:r>
            <a:r>
              <a:rPr lang="en-IN" dirty="0" err="1">
                <a:latin typeface="Times New Roman" panose="02020603050405020304" pitchFamily="18" charset="0"/>
                <a:cs typeface="Times New Roman" panose="02020603050405020304" pitchFamily="18" charset="0"/>
              </a:rPr>
              <a:t>Uvicorn</a:t>
            </a:r>
            <a:r>
              <a:rPr lang="en-IN" dirty="0">
                <a:latin typeface="Times New Roman" panose="02020603050405020304" pitchFamily="18" charset="0"/>
                <a:cs typeface="Times New Roman" panose="02020603050405020304" pitchFamily="18" charset="0"/>
              </a:rPr>
              <a:t> for the frontend interface and backend API.</a:t>
            </a:r>
          </a:p>
          <a:p>
            <a:r>
              <a:rPr lang="en-IN" b="1" dirty="0">
                <a:latin typeface="Times New Roman" panose="02020603050405020304" pitchFamily="18" charset="0"/>
                <a:cs typeface="Times New Roman" panose="02020603050405020304" pitchFamily="18" charset="0"/>
              </a:rPr>
              <a:t>Security &amp; Reporting:</a:t>
            </a:r>
            <a:r>
              <a:rPr lang="en-IN" dirty="0">
                <a:latin typeface="Times New Roman" panose="02020603050405020304" pitchFamily="18" charset="0"/>
                <a:cs typeface="Times New Roman" panose="02020603050405020304" pitchFamily="18" charset="0"/>
              </a:rPr>
              <a:t> MITRE CWE, CVSS 3.1, Bandit, </a:t>
            </a:r>
            <a:r>
              <a:rPr lang="en-IN" dirty="0" err="1">
                <a:latin typeface="Times New Roman" panose="02020603050405020304" pitchFamily="18" charset="0"/>
                <a:cs typeface="Times New Roman" panose="02020603050405020304" pitchFamily="18" charset="0"/>
              </a:rPr>
              <a:t>bcrypt</a:t>
            </a:r>
            <a:r>
              <a:rPr lang="en-IN" dirty="0">
                <a:latin typeface="Times New Roman" panose="02020603050405020304" pitchFamily="18" charset="0"/>
                <a:cs typeface="Times New Roman" panose="02020603050405020304" pitchFamily="18" charset="0"/>
              </a:rPr>
              <a:t>, JWT, </a:t>
            </a:r>
            <a:r>
              <a:rPr lang="en-IN" dirty="0" err="1">
                <a:latin typeface="Times New Roman" panose="02020603050405020304" pitchFamily="18" charset="0"/>
                <a:cs typeface="Times New Roman" panose="02020603050405020304" pitchFamily="18" charset="0"/>
              </a:rPr>
              <a:t>ReportLab</a:t>
            </a:r>
            <a:r>
              <a:rPr lang="en-IN" dirty="0">
                <a:latin typeface="Times New Roman" panose="02020603050405020304" pitchFamily="18" charset="0"/>
                <a:cs typeface="Times New Roman" panose="02020603050405020304" pitchFamily="18" charset="0"/>
              </a:rPr>
              <a:t>, and </a:t>
            </a:r>
            <a:r>
              <a:rPr lang="en-IN" dirty="0" err="1">
                <a:latin typeface="Times New Roman" panose="02020603050405020304" pitchFamily="18" charset="0"/>
                <a:cs typeface="Times New Roman" panose="02020603050405020304" pitchFamily="18" charset="0"/>
              </a:rPr>
              <a:t>Plotly</a:t>
            </a:r>
            <a:r>
              <a:rPr lang="en-IN" dirty="0">
                <a:latin typeface="Times New Roman" panose="02020603050405020304" pitchFamily="18" charset="0"/>
                <a:cs typeface="Times New Roman" panose="02020603050405020304" pitchFamily="18" charset="0"/>
              </a:rPr>
              <a:t> for vulnerability analysis, authentication, visualization, and reporting.</a:t>
            </a:r>
          </a:p>
        </p:txBody>
      </p:sp>
    </p:spTree>
    <p:extLst>
      <p:ext uri="{BB962C8B-B14F-4D97-AF65-F5344CB8AC3E}">
        <p14:creationId xmlns:p14="http://schemas.microsoft.com/office/powerpoint/2010/main" val="1846442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5B0EC-87B4-56C1-3B24-66588F9851C2}"/>
              </a:ext>
            </a:extLst>
          </p:cNvPr>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CONCLUSION AND FUTURE SCOPE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7B1028C-EDB1-FEB1-6B2B-F28B4988473F}"/>
              </a:ext>
            </a:extLst>
          </p:cNvPr>
          <p:cNvSpPr>
            <a:spLocks noGrp="1"/>
          </p:cNvSpPr>
          <p:nvPr>
            <p:ph idx="1"/>
          </p:nvPr>
        </p:nvSpPr>
        <p:spPr>
          <a:xfrm>
            <a:off x="457200" y="1854200"/>
            <a:ext cx="11540066" cy="4910667"/>
          </a:xfrm>
        </p:spPr>
        <p:txBody>
          <a:bodyPr>
            <a:normAutofit fontScale="55000" lnSpcReduction="20000"/>
          </a:bodyPr>
          <a:lstStyle/>
          <a:p>
            <a:r>
              <a:rPr lang="en-IN" sz="3200" b="1" dirty="0">
                <a:latin typeface="Times New Roman" panose="02020603050405020304" pitchFamily="18" charset="0"/>
                <a:cs typeface="Times New Roman" panose="02020603050405020304" pitchFamily="18" charset="0"/>
              </a:rPr>
              <a:t>Conclusion</a:t>
            </a:r>
          </a:p>
          <a:p>
            <a:pPr lvl="0"/>
            <a:r>
              <a:rPr lang="en-IN" sz="3200" dirty="0">
                <a:latin typeface="Times New Roman" panose="02020603050405020304" pitchFamily="18" charset="0"/>
                <a:cs typeface="Times New Roman" panose="02020603050405020304" pitchFamily="18" charset="0"/>
              </a:rPr>
              <a:t>Developed an </a:t>
            </a:r>
            <a:r>
              <a:rPr lang="en-IN" sz="3200" b="1" dirty="0">
                <a:latin typeface="Times New Roman" panose="02020603050405020304" pitchFamily="18" charset="0"/>
                <a:cs typeface="Times New Roman" panose="02020603050405020304" pitchFamily="18" charset="0"/>
              </a:rPr>
              <a:t>LLM-based multi-agent system</a:t>
            </a:r>
            <a:r>
              <a:rPr lang="en-IN" sz="3200" dirty="0">
                <a:latin typeface="Times New Roman" panose="02020603050405020304" pitchFamily="18" charset="0"/>
                <a:cs typeface="Times New Roman" panose="02020603050405020304" pitchFamily="18" charset="0"/>
              </a:rPr>
              <a:t> for automated code generation, code review, vulnerability detection, and security explanation. </a:t>
            </a:r>
          </a:p>
          <a:p>
            <a:pPr lvl="0"/>
            <a:r>
              <a:rPr lang="en-IN" sz="3200" dirty="0">
                <a:latin typeface="Times New Roman" panose="02020603050405020304" pitchFamily="18" charset="0"/>
                <a:cs typeface="Times New Roman" panose="02020603050405020304" pitchFamily="18" charset="0"/>
              </a:rPr>
              <a:t>Integrated specialized AI agents to improve code quality, identify logical errors, and detect common software vulnerabilities. </a:t>
            </a:r>
          </a:p>
          <a:p>
            <a:pPr lvl="0"/>
            <a:r>
              <a:rPr lang="en-IN" sz="3200" dirty="0">
                <a:latin typeface="Times New Roman" panose="02020603050405020304" pitchFamily="18" charset="0"/>
                <a:cs typeface="Times New Roman" panose="02020603050405020304" pitchFamily="18" charset="0"/>
              </a:rPr>
              <a:t>Enabled context-aware vulnerability explanation with secure coding recommendations to assist developers. </a:t>
            </a:r>
          </a:p>
          <a:p>
            <a:pPr lvl="0"/>
            <a:r>
              <a:rPr lang="en-IN" sz="3200" dirty="0">
                <a:latin typeface="Times New Roman" panose="02020603050405020304" pitchFamily="18" charset="0"/>
                <a:cs typeface="Times New Roman" panose="02020603050405020304" pitchFamily="18" charset="0"/>
              </a:rPr>
              <a:t>Deployed the LLM locally to ensure </a:t>
            </a:r>
            <a:r>
              <a:rPr lang="en-IN" sz="3200" b="1" dirty="0">
                <a:latin typeface="Times New Roman" panose="02020603050405020304" pitchFamily="18" charset="0"/>
                <a:cs typeface="Times New Roman" panose="02020603050405020304" pitchFamily="18" charset="0"/>
              </a:rPr>
              <a:t>data privacy</a:t>
            </a:r>
            <a:r>
              <a:rPr lang="en-IN" sz="3200" dirty="0">
                <a:latin typeface="Times New Roman" panose="02020603050405020304" pitchFamily="18" charset="0"/>
                <a:cs typeface="Times New Roman" panose="02020603050405020304" pitchFamily="18" charset="0"/>
              </a:rPr>
              <a:t>, offline execution, and reduced dependence on cloud-based services. </a:t>
            </a:r>
          </a:p>
          <a:p>
            <a:pPr lvl="0"/>
            <a:r>
              <a:rPr lang="en-IN" sz="3200" dirty="0">
                <a:latin typeface="Times New Roman" panose="02020603050405020304" pitchFamily="18" charset="0"/>
                <a:cs typeface="Times New Roman" panose="02020603050405020304" pitchFamily="18" charset="0"/>
              </a:rPr>
              <a:t>Reduced manual code review effort while improving software security, development efficiency, and overall productivity. </a:t>
            </a:r>
          </a:p>
          <a:p>
            <a:pPr marL="0" indent="0">
              <a:buNone/>
            </a:pPr>
            <a:r>
              <a:rPr lang="en-IN" sz="32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Future Scope</a:t>
            </a:r>
          </a:p>
          <a:p>
            <a:pPr lvl="0"/>
            <a:r>
              <a:rPr lang="en-IN" sz="3200" dirty="0">
                <a:latin typeface="Times New Roman" panose="02020603050405020304" pitchFamily="18" charset="0"/>
                <a:cs typeface="Times New Roman" panose="02020603050405020304" pitchFamily="18" charset="0"/>
              </a:rPr>
              <a:t>Integrate the system with popular IDEs such as </a:t>
            </a:r>
            <a:r>
              <a:rPr lang="en-IN" sz="3200" b="1" dirty="0">
                <a:latin typeface="Times New Roman" panose="02020603050405020304" pitchFamily="18" charset="0"/>
                <a:cs typeface="Times New Roman" panose="02020603050405020304" pitchFamily="18" charset="0"/>
              </a:rPr>
              <a:t>Visual Studio Code</a:t>
            </a:r>
            <a:r>
              <a:rPr lang="en-IN" sz="3200" dirty="0">
                <a:latin typeface="Times New Roman" panose="02020603050405020304" pitchFamily="18" charset="0"/>
                <a:cs typeface="Times New Roman" panose="02020603050405020304" pitchFamily="18" charset="0"/>
              </a:rPr>
              <a:t> and </a:t>
            </a:r>
            <a:r>
              <a:rPr lang="en-IN" sz="3200" b="1" dirty="0">
                <a:latin typeface="Times New Roman" panose="02020603050405020304" pitchFamily="18" charset="0"/>
                <a:cs typeface="Times New Roman" panose="02020603050405020304" pitchFamily="18" charset="0"/>
              </a:rPr>
              <a:t>PyCharm</a:t>
            </a:r>
            <a:r>
              <a:rPr lang="en-IN" sz="3200" dirty="0">
                <a:latin typeface="Times New Roman" panose="02020603050405020304" pitchFamily="18" charset="0"/>
                <a:cs typeface="Times New Roman" panose="02020603050405020304" pitchFamily="18" charset="0"/>
              </a:rPr>
              <a:t> for real-time coding assistance. </a:t>
            </a:r>
          </a:p>
          <a:p>
            <a:pPr lvl="0"/>
            <a:r>
              <a:rPr lang="en-IN" sz="3200" dirty="0">
                <a:latin typeface="Times New Roman" panose="02020603050405020304" pitchFamily="18" charset="0"/>
                <a:cs typeface="Times New Roman" panose="02020603050405020304" pitchFamily="18" charset="0"/>
              </a:rPr>
              <a:t>Support additional programming languages and frameworks for broader application. </a:t>
            </a:r>
          </a:p>
          <a:p>
            <a:pPr lvl="0"/>
            <a:r>
              <a:rPr lang="en-IN" sz="3200" dirty="0">
                <a:latin typeface="Times New Roman" panose="02020603050405020304" pitchFamily="18" charset="0"/>
                <a:cs typeface="Times New Roman" panose="02020603050405020304" pitchFamily="18" charset="0"/>
              </a:rPr>
              <a:t>Implement </a:t>
            </a:r>
            <a:r>
              <a:rPr lang="en-IN" sz="3200" b="1" dirty="0">
                <a:latin typeface="Times New Roman" panose="02020603050405020304" pitchFamily="18" charset="0"/>
                <a:cs typeface="Times New Roman" panose="02020603050405020304" pitchFamily="18" charset="0"/>
              </a:rPr>
              <a:t>automatic vulnerability remediation</a:t>
            </a:r>
            <a:r>
              <a:rPr lang="en-IN" sz="3200" dirty="0">
                <a:latin typeface="Times New Roman" panose="02020603050405020304" pitchFamily="18" charset="0"/>
                <a:cs typeface="Times New Roman" panose="02020603050405020304" pitchFamily="18" charset="0"/>
              </a:rPr>
              <a:t> by generating secure code fixes. </a:t>
            </a:r>
          </a:p>
          <a:p>
            <a:pPr lvl="0"/>
            <a:r>
              <a:rPr lang="en-IN" sz="3200" dirty="0">
                <a:latin typeface="Times New Roman" panose="02020603050405020304" pitchFamily="18" charset="0"/>
                <a:cs typeface="Times New Roman" panose="02020603050405020304" pitchFamily="18" charset="0"/>
              </a:rPr>
              <a:t>Integrate with </a:t>
            </a:r>
            <a:r>
              <a:rPr lang="en-IN" sz="3200" b="1" dirty="0">
                <a:latin typeface="Times New Roman" panose="02020603050405020304" pitchFamily="18" charset="0"/>
                <a:cs typeface="Times New Roman" panose="02020603050405020304" pitchFamily="18" charset="0"/>
              </a:rPr>
              <a:t>CI/CD pipelines</a:t>
            </a:r>
            <a:r>
              <a:rPr lang="en-IN" sz="3200" dirty="0">
                <a:latin typeface="Times New Roman" panose="02020603050405020304" pitchFamily="18" charset="0"/>
                <a:cs typeface="Times New Roman" panose="02020603050405020304" pitchFamily="18" charset="0"/>
              </a:rPr>
              <a:t> for continuous code review and security analysis</a:t>
            </a:r>
            <a:r>
              <a:rPr lang="en-IN" dirty="0"/>
              <a:t>. </a:t>
            </a:r>
          </a:p>
          <a:p>
            <a:pPr lvl="0"/>
            <a:endParaRPr lang="en-IN" dirty="0"/>
          </a:p>
          <a:p>
            <a:endParaRPr lang="en-IN" dirty="0"/>
          </a:p>
        </p:txBody>
      </p:sp>
    </p:spTree>
    <p:extLst>
      <p:ext uri="{BB962C8B-B14F-4D97-AF65-F5344CB8AC3E}">
        <p14:creationId xmlns:p14="http://schemas.microsoft.com/office/powerpoint/2010/main" val="3948590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C2D8D-7C96-B59F-D334-704FFF88E56F}"/>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E3E08E5-45EC-0BFA-C115-5CB9FEC093B8}"/>
              </a:ext>
            </a:extLst>
          </p:cNvPr>
          <p:cNvSpPr>
            <a:spLocks noGrp="1"/>
          </p:cNvSpPr>
          <p:nvPr>
            <p:ph idx="1"/>
          </p:nvPr>
        </p:nvSpPr>
        <p:spPr>
          <a:xfrm>
            <a:off x="581192" y="2180496"/>
            <a:ext cx="11407608" cy="4448904"/>
          </a:xfrm>
        </p:spPr>
        <p:txBody>
          <a:bodyPr>
            <a:normAutofit/>
          </a:bodyPr>
          <a:lstStyle/>
          <a:p>
            <a:pPr lvl="0"/>
            <a:r>
              <a:rPr lang="en-IN" dirty="0">
                <a:latin typeface="Times New Roman" panose="02020603050405020304" pitchFamily="18" charset="0"/>
                <a:cs typeface="Times New Roman" panose="02020603050405020304" pitchFamily="18" charset="0"/>
              </a:rPr>
              <a:t>OpenAI. </a:t>
            </a:r>
            <a:r>
              <a:rPr lang="en-IN" i="1" dirty="0">
                <a:latin typeface="Times New Roman" panose="02020603050405020304" pitchFamily="18" charset="0"/>
                <a:cs typeface="Times New Roman" panose="02020603050405020304" pitchFamily="18" charset="0"/>
              </a:rPr>
              <a:t>GPT Models and Large Language Models</a:t>
            </a:r>
            <a:r>
              <a:rPr 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hlinkClick r:id="rId2"/>
              </a:rPr>
              <a:t>https://openai.com</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Meta AI. </a:t>
            </a:r>
            <a:r>
              <a:rPr lang="en-IN" i="1" dirty="0">
                <a:latin typeface="Times New Roman" panose="02020603050405020304" pitchFamily="18" charset="0"/>
                <a:cs typeface="Times New Roman" panose="02020603050405020304" pitchFamily="18" charset="0"/>
              </a:rPr>
              <a:t>Llama: Open and Efficient Foundation Language Models</a:t>
            </a:r>
            <a:r>
              <a:rPr 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hlinkClick r:id="rId3"/>
              </a:rPr>
              <a:t>https://ai.meta.com/llama</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Hugging Face. </a:t>
            </a:r>
            <a:r>
              <a:rPr lang="en-IN" i="1" dirty="0">
                <a:latin typeface="Times New Roman" panose="02020603050405020304" pitchFamily="18" charset="0"/>
                <a:cs typeface="Times New Roman" panose="02020603050405020304" pitchFamily="18" charset="0"/>
              </a:rPr>
              <a:t>Transformers Documentation</a:t>
            </a:r>
            <a:r>
              <a:rPr 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hlinkClick r:id="rId4"/>
              </a:rPr>
              <a:t>https://huggingface.co/docs/transformers</a:t>
            </a:r>
            <a:r>
              <a:rPr lang="en-IN" dirty="0">
                <a:latin typeface="Times New Roman" panose="02020603050405020304" pitchFamily="18" charset="0"/>
                <a:cs typeface="Times New Roman" panose="02020603050405020304" pitchFamily="18" charset="0"/>
              </a:rPr>
              <a:t> </a:t>
            </a:r>
          </a:p>
          <a:p>
            <a:pPr lvl="0"/>
            <a:r>
              <a:rPr lang="en-IN" dirty="0" err="1">
                <a:latin typeface="Times New Roman" panose="02020603050405020304" pitchFamily="18" charset="0"/>
                <a:cs typeface="Times New Roman" panose="02020603050405020304" pitchFamily="18" charset="0"/>
              </a:rPr>
              <a:t>LangChain</a:t>
            </a:r>
            <a:r>
              <a:rPr lang="en-IN" dirty="0">
                <a:latin typeface="Times New Roman" panose="02020603050405020304" pitchFamily="18" charset="0"/>
                <a:cs typeface="Times New Roman" panose="02020603050405020304" pitchFamily="18" charset="0"/>
              </a:rPr>
              <a:t> Documentation. </a:t>
            </a:r>
            <a:r>
              <a:rPr lang="en-IN" dirty="0">
                <a:latin typeface="Times New Roman" panose="02020603050405020304" pitchFamily="18" charset="0"/>
                <a:cs typeface="Times New Roman" panose="02020603050405020304" pitchFamily="18" charset="0"/>
                <a:hlinkClick r:id="rId5"/>
              </a:rPr>
              <a:t>https://python.langchain.com</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OWASP Foundation. </a:t>
            </a:r>
            <a:r>
              <a:rPr lang="en-IN" i="1" dirty="0">
                <a:latin typeface="Times New Roman" panose="02020603050405020304" pitchFamily="18" charset="0"/>
                <a:cs typeface="Times New Roman" panose="02020603050405020304" pitchFamily="18" charset="0"/>
              </a:rPr>
              <a:t>OWASP Top 10 Web Application Security Risks</a:t>
            </a:r>
            <a:r>
              <a:rPr 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hlinkClick r:id="rId6"/>
              </a:rPr>
              <a:t>https://owasp.org/www-project-top-ten</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Bandit Documentation. </a:t>
            </a:r>
            <a:r>
              <a:rPr lang="en-IN" dirty="0">
                <a:latin typeface="Times New Roman" panose="02020603050405020304" pitchFamily="18" charset="0"/>
                <a:cs typeface="Times New Roman" panose="02020603050405020304" pitchFamily="18" charset="0"/>
                <a:hlinkClick r:id="rId7"/>
              </a:rPr>
              <a:t>https://bandit.readthedocs.io</a:t>
            </a:r>
            <a:endParaRPr lang="en-IN" dirty="0">
              <a:latin typeface="Times New Roman" panose="02020603050405020304" pitchFamily="18" charset="0"/>
              <a:cs typeface="Times New Roman" panose="02020603050405020304" pitchFamily="18" charset="0"/>
            </a:endParaRPr>
          </a:p>
          <a:p>
            <a:r>
              <a:rPr lang="en-IN" dirty="0" err="1">
                <a:latin typeface="Times New Roman" panose="02020603050405020304" pitchFamily="18" charset="0"/>
                <a:cs typeface="Times New Roman" panose="02020603050405020304" pitchFamily="18" charset="0"/>
              </a:rPr>
              <a:t>Semgrep</a:t>
            </a:r>
            <a:r>
              <a:rPr lang="en-IN" dirty="0">
                <a:latin typeface="Times New Roman" panose="02020603050405020304" pitchFamily="18" charset="0"/>
                <a:cs typeface="Times New Roman" panose="02020603050405020304" pitchFamily="18" charset="0"/>
              </a:rPr>
              <a:t> Documentation. </a:t>
            </a:r>
            <a:r>
              <a:rPr lang="en-IN" dirty="0">
                <a:latin typeface="Times New Roman" panose="02020603050405020304" pitchFamily="18" charset="0"/>
                <a:cs typeface="Times New Roman" panose="02020603050405020304" pitchFamily="18" charset="0"/>
                <a:hlinkClick r:id="rId8"/>
              </a:rPr>
              <a:t>https://semgrep.dev</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2392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B5388F-E757-EEEB-DB58-58AC717E6C49}"/>
              </a:ext>
            </a:extLst>
          </p:cNvPr>
          <p:cNvSpPr>
            <a:spLocks noGrp="1"/>
          </p:cNvSpPr>
          <p:nvPr>
            <p:ph idx="1"/>
          </p:nvPr>
        </p:nvSpPr>
        <p:spPr>
          <a:xfrm>
            <a:off x="406401" y="2074333"/>
            <a:ext cx="11137854" cy="3978978"/>
          </a:xfrm>
        </p:spPr>
        <p:txBody>
          <a:bodyPr>
            <a:normAutofit/>
          </a:bodyPr>
          <a:lstStyle/>
          <a:p>
            <a:pPr marL="0" indent="0" algn="ctr">
              <a:buNone/>
            </a:pPr>
            <a:r>
              <a:rPr lang="en-IN" sz="9600" b="1" dirty="0">
                <a:latin typeface="MV Boli" panose="02000500030200090000" pitchFamily="2" charset="0"/>
                <a:cs typeface="MV Boli" panose="02000500030200090000" pitchFamily="2" charset="0"/>
              </a:rPr>
              <a:t>THANK YOU</a:t>
            </a:r>
          </a:p>
        </p:txBody>
      </p:sp>
    </p:spTree>
    <p:extLst>
      <p:ext uri="{BB962C8B-B14F-4D97-AF65-F5344CB8AC3E}">
        <p14:creationId xmlns:p14="http://schemas.microsoft.com/office/powerpoint/2010/main" val="3917035024"/>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
  <TotalTime>180</TotalTime>
  <Words>1196</Words>
  <Application>Microsoft Office PowerPoint</Application>
  <PresentationFormat>Widescreen</PresentationFormat>
  <Paragraphs>102</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Calibri Light</vt:lpstr>
      <vt:lpstr>Cambria</vt:lpstr>
      <vt:lpstr>Courier New</vt:lpstr>
      <vt:lpstr>MV Boli</vt:lpstr>
      <vt:lpstr>Times New Roman</vt:lpstr>
      <vt:lpstr>Retrospect</vt:lpstr>
      <vt:lpstr>PowerPoint Presentation</vt:lpstr>
      <vt:lpstr>ABSTRACT</vt:lpstr>
      <vt:lpstr>INTRODUCTION </vt:lpstr>
      <vt:lpstr>OBJECTIVES</vt:lpstr>
      <vt:lpstr>PowerPoint Presentation</vt:lpstr>
      <vt:lpstr>Module 1:Multi-Agent Code Generation and Review</vt:lpstr>
      <vt:lpstr>Module 2:Vulnerability Detection and Explanation</vt:lpstr>
      <vt:lpstr>Literature Review</vt:lpstr>
      <vt:lpstr>TOOLS AND TECHNOLOGIES</vt:lpstr>
      <vt:lpstr>CONCLUSION AND 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ARMURI PRADEEP</dc:creator>
  <cp:lastModifiedBy>gurka vinay</cp:lastModifiedBy>
  <cp:revision>14</cp:revision>
  <dcterms:created xsi:type="dcterms:W3CDTF">2026-07-31T15:44:34Z</dcterms:created>
  <dcterms:modified xsi:type="dcterms:W3CDTF">2026-09-03T15:39:34Z</dcterms:modified>
</cp:coreProperties>
</file>